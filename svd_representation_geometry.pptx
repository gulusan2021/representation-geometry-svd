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8425" y="1369814"/>
            <a:ext cx="0" cy="1165771"/>
          </a:xfrm>
          <a:prstGeom prst="line">
            <a:avLst/>
          </a:prstGeom>
          <a:noFill/>
          <a:ln w="76200">
            <a:solidFill>
              <a:srgbClr val="FF6B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46113" y="1369814"/>
            <a:ext cx="6651626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620"/>
              </a:lnSpc>
              <a:spcAft>
                <a:spcPts val="1200"/>
              </a:spcAft>
              <a:buNone/>
            </a:pPr>
            <a:r>
              <a:rPr lang="en-US" sz="4200" b="1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Representation Geometry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246113" y="2108895"/>
            <a:ext cx="6651626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Collaborative Filtering Systems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934786" y="3221385"/>
            <a:ext cx="327442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2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Data Sparsity Distorts Embedding Stability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934786" y="3510855"/>
            <a:ext cx="327442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0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Using SVD-Based Recommender Systems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2900"/>
            <a:ext cx="839419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Question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1143000"/>
          </a:xfrm>
          <a:prstGeom prst="roundRect">
            <a:avLst>
              <a:gd name="adj" fmla="val 6667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85775" y="1371600"/>
            <a:ext cx="0" cy="1143000"/>
          </a:xfrm>
          <a:prstGeom prst="line">
            <a:avLst/>
          </a:prstGeom>
          <a:noFill/>
          <a:ln w="57150">
            <a:solidFill>
              <a:srgbClr val="FF6B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2950" y="1600200"/>
            <a:ext cx="78695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does data availability affect the stability and reliability of learned representations in recommender systems?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048000"/>
            <a:ext cx="4038600" cy="1059061"/>
          </a:xfrm>
          <a:prstGeom prst="roundRect">
            <a:avLst>
              <a:gd name="adj" fmla="val 7195"/>
            </a:avLst>
          </a:prstGeom>
          <a:solidFill>
            <a:srgbClr val="2A436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47700" y="3238500"/>
            <a:ext cx="373075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HYPOTHESIS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647700" y="3487936"/>
            <a:ext cx="373075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Sparse users will show unstable embeddings across model retraining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4648200" y="3048000"/>
            <a:ext cx="4038600" cy="1059061"/>
          </a:xfrm>
          <a:prstGeom prst="roundRect">
            <a:avLst>
              <a:gd name="adj" fmla="val 7195"/>
            </a:avLst>
          </a:prstGeom>
          <a:solidFill>
            <a:srgbClr val="2A436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38700" y="3238500"/>
            <a:ext cx="373075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FFB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IMPLICATION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4838700" y="3487936"/>
            <a:ext cx="373075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metrics may mask systematic failures for underserved populations</a:t>
            </a:r>
            <a:endParaRPr lang="en-US" sz="11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973634"/>
            <a:ext cx="4974336" cy="423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33"/>
              </a:lnSpc>
              <a:spcAft>
                <a:spcPts val="2100"/>
              </a:spcAft>
              <a:buNone/>
            </a:pPr>
            <a:r>
              <a:rPr lang="en-US" sz="30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Experimental Methodology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3400" y="1816001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70917" y="1873151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28700" y="1816001"/>
            <a:ext cx="773353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User-Item Interactions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028700" y="2132112"/>
            <a:ext cx="773353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20,000 interactions across 1,000 users and 500 items with power-law distribution (mimicking real-world sparsity)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33400" y="2433042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70917" y="2490192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28700" y="2433042"/>
            <a:ext cx="773353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SVD Model (Baseline)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028700" y="2749153"/>
            <a:ext cx="773353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Decompose interaction matrix into 50-dimensional user and item embeddings using Singular Value Decomposition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3400" y="3050084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70917" y="3107234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28700" y="3050084"/>
            <a:ext cx="773353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Perturb Data &amp; Retrain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028700" y="3366195"/>
            <a:ext cx="773353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5% of interactions, add 5% new interactions, retrain model (simulates real-world data drift)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33400" y="3667125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70917" y="3724275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28700" y="3667125"/>
            <a:ext cx="773353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Embedding Stability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028700" y="3983236"/>
            <a:ext cx="773353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 cosine distance between original and perturbed embeddings for each user, stratify by interaction count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785813"/>
            <a:ext cx="412908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1650"/>
              </a:spcAft>
              <a:buNone/>
            </a:pPr>
            <a:r>
              <a:rPr lang="en-US" sz="27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Characteristics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3400" y="1881187"/>
            <a:ext cx="3689896" cy="1748730"/>
          </a:xfrm>
          <a:prstGeom prst="roundRect">
            <a:avLst>
              <a:gd name="adj" fmla="val 6536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42950" y="2090738"/>
            <a:ext cx="333621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STATISTICS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375696" y="1528763"/>
            <a:ext cx="4234904" cy="2453580"/>
          </a:xfrm>
          <a:prstGeom prst="roundRect">
            <a:avLst>
              <a:gd name="adj" fmla="val 4658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85246" y="1738313"/>
            <a:ext cx="389212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DISTRIBUTION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85246" y="2058293"/>
            <a:ext cx="3815804" cy="514350"/>
          </a:xfrm>
          <a:prstGeom prst="roundRect">
            <a:avLst>
              <a:gd name="adj" fmla="val 14815"/>
            </a:avLst>
          </a:prstGeom>
          <a:solidFill>
            <a:srgbClr val="2A436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709071" y="2391668"/>
            <a:ext cx="1141809" cy="57150"/>
          </a:xfrm>
          <a:prstGeom prst="roundRect">
            <a:avLst>
              <a:gd name="adj" fmla="val 66667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585246" y="2658368"/>
            <a:ext cx="3815804" cy="514350"/>
          </a:xfrm>
          <a:prstGeom prst="roundRect">
            <a:avLst>
              <a:gd name="adj" fmla="val 14815"/>
            </a:avLst>
          </a:prstGeom>
          <a:solidFill>
            <a:srgbClr val="2A436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709071" y="2991743"/>
            <a:ext cx="2069455" cy="57150"/>
          </a:xfrm>
          <a:prstGeom prst="roundRect">
            <a:avLst>
              <a:gd name="adj" fmla="val 66667"/>
            </a:avLst>
          </a:prstGeom>
          <a:solidFill>
            <a:srgbClr val="F39C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585246" y="3258443"/>
            <a:ext cx="3815804" cy="514350"/>
          </a:xfrm>
          <a:prstGeom prst="roundRect">
            <a:avLst>
              <a:gd name="adj" fmla="val 14815"/>
            </a:avLst>
          </a:prstGeom>
          <a:solidFill>
            <a:srgbClr val="2A436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709071" y="3591818"/>
            <a:ext cx="356741" cy="57150"/>
          </a:xfrm>
          <a:prstGeom prst="roundRect">
            <a:avLst>
              <a:gd name="adj" fmla="val 66667"/>
            </a:avLst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52628" y="4268093"/>
            <a:ext cx="823874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1050"/>
              </a:spcBef>
              <a:buNone/>
            </a:pPr>
            <a:r>
              <a:rPr lang="en-US" sz="825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Power-law distribution mimics real-world recommendation systems</a:t>
            </a:r>
            <a:endParaRPr lang="en-US" sz="8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2900"/>
            <a:ext cx="839419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Quantitative Results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333500"/>
            <a:ext cx="2641550" cy="1504652"/>
          </a:xfrm>
          <a:prstGeom prst="roundRect">
            <a:avLst>
              <a:gd name="adj" fmla="val 5064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57200" y="1352550"/>
            <a:ext cx="2641550" cy="0"/>
          </a:xfrm>
          <a:prstGeom prst="line">
            <a:avLst/>
          </a:prstGeom>
          <a:noFill/>
          <a:ln w="38100">
            <a:solidFill>
              <a:srgbClr val="FF6B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7700" y="1562100"/>
            <a:ext cx="230576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SPARSE USERS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647700" y="1811536"/>
            <a:ext cx="2305761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33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~50%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647700" y="2474416"/>
            <a:ext cx="230576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600"/>
              </a:spcBef>
              <a:buNone/>
            </a:pPr>
            <a:r>
              <a:rPr lang="en-US" sz="975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embedding shift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3251150" y="1333500"/>
            <a:ext cx="2641550" cy="1504652"/>
          </a:xfrm>
          <a:prstGeom prst="roundRect">
            <a:avLst>
              <a:gd name="adj" fmla="val 5064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251150" y="1352550"/>
            <a:ext cx="2641550" cy="0"/>
          </a:xfrm>
          <a:prstGeom prst="line">
            <a:avLst/>
          </a:prstGeom>
          <a:noFill/>
          <a:ln w="38100">
            <a:solidFill>
              <a:srgbClr val="FFB8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41650" y="1562100"/>
            <a:ext cx="230576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USERS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3441650" y="1811536"/>
            <a:ext cx="2305761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3300" b="1" dirty="0">
                <a:solidFill>
                  <a:srgbClr val="FFB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~15%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3441650" y="2474416"/>
            <a:ext cx="230576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600"/>
              </a:spcBef>
              <a:buNone/>
            </a:pPr>
            <a:r>
              <a:rPr lang="en-US" sz="975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embedding shift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6045101" y="1333500"/>
            <a:ext cx="2641550" cy="1504652"/>
          </a:xfrm>
          <a:prstGeom prst="roundRect">
            <a:avLst>
              <a:gd name="adj" fmla="val 5064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045101" y="1352550"/>
            <a:ext cx="2641550" cy="0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35601" y="1562100"/>
            <a:ext cx="230576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 USERS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6235601" y="1811536"/>
            <a:ext cx="2305761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33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~5%</a:t>
            </a:r>
            <a:endParaRPr lang="en-US" sz="3300" dirty="0"/>
          </a:p>
        </p:txBody>
      </p:sp>
      <p:sp>
        <p:nvSpPr>
          <p:cNvPr id="17" name="Text 15"/>
          <p:cNvSpPr/>
          <p:nvPr/>
        </p:nvSpPr>
        <p:spPr>
          <a:xfrm>
            <a:off x="6235601" y="2474416"/>
            <a:ext cx="230576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600"/>
              </a:spcBef>
              <a:buNone/>
            </a:pPr>
            <a:r>
              <a:rPr lang="en-US" sz="975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embedding shift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457200" y="3219152"/>
            <a:ext cx="8229600" cy="1407616"/>
          </a:xfrm>
          <a:prstGeom prst="roundRect">
            <a:avLst>
              <a:gd name="adj" fmla="val 5413"/>
            </a:avLst>
          </a:prstGeom>
          <a:solidFill>
            <a:srgbClr val="2A436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47700" y="3409652"/>
            <a:ext cx="800557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RMSE Performance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7700" y="3710583"/>
            <a:ext cx="256489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RMSE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7700" y="3908673"/>
            <a:ext cx="25648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0.82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314700" y="3710583"/>
            <a:ext cx="256489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Sparse RMSE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314700" y="3908673"/>
            <a:ext cx="25648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0.89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981700" y="3710583"/>
            <a:ext cx="256489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 RMSE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981700" y="3908673"/>
            <a:ext cx="25648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0.78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47700" y="4289673"/>
            <a:ext cx="800557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900"/>
              </a:spcBef>
              <a:buNone/>
            </a:pPr>
            <a:r>
              <a:rPr lang="en-US" sz="825" i="1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Standard metrics look reasonable but hide representation instability</a:t>
            </a:r>
            <a:endParaRPr lang="en-US" sz="8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2900"/>
            <a:ext cx="839419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Long-Tail Distribution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4495800"/>
            <a:ext cx="8229600" cy="414338"/>
          </a:xfrm>
          <a:prstGeom prst="roundRect">
            <a:avLst>
              <a:gd name="adj" fmla="val 18391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47700" y="4610100"/>
            <a:ext cx="8005572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 of users</a:t>
            </a:r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have sparse interaction histories, leading to unreliable representations despite good aggregate metrics</a:t>
            </a:r>
            <a:endParaRPr lang="en-US" sz="9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2900"/>
            <a:ext cx="839419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Implications for ML Reliability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333500"/>
            <a:ext cx="8229600" cy="891480"/>
          </a:xfrm>
          <a:prstGeom prst="roundRect">
            <a:avLst>
              <a:gd name="adj" fmla="val 8548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85775" y="1333500"/>
            <a:ext cx="0" cy="891480"/>
          </a:xfrm>
          <a:prstGeom prst="line">
            <a:avLst/>
          </a:prstGeom>
          <a:noFill/>
          <a:ln w="57150">
            <a:solidFill>
              <a:srgbClr val="FF6B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2950" y="1524000"/>
            <a:ext cx="786955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GAP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42950" y="1805880"/>
            <a:ext cx="78695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evaluation metrics can mask systematic failures for underrepresented populations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457200" y="2377380"/>
            <a:ext cx="8229600" cy="891480"/>
          </a:xfrm>
          <a:prstGeom prst="roundRect">
            <a:avLst>
              <a:gd name="adj" fmla="val 8548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85775" y="2377380"/>
            <a:ext cx="0" cy="891480"/>
          </a:xfrm>
          <a:prstGeom prst="line">
            <a:avLst/>
          </a:prstGeom>
          <a:noFill/>
          <a:ln w="57150">
            <a:solidFill>
              <a:srgbClr val="FFB8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2950" y="2567880"/>
            <a:ext cx="786955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RELIABILITY THRESHOLD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2950" y="2849761"/>
            <a:ext cx="78695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availability creates a reliability threshold: users below ~10 interactions receive unreliable recommendations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457200" y="3421261"/>
            <a:ext cx="8229600" cy="891480"/>
          </a:xfrm>
          <a:prstGeom prst="roundRect">
            <a:avLst>
              <a:gd name="adj" fmla="val 8548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85775" y="3421261"/>
            <a:ext cx="0" cy="891480"/>
          </a:xfrm>
          <a:prstGeom prst="line">
            <a:avLst/>
          </a:prstGeom>
          <a:noFill/>
          <a:ln w="57150">
            <a:solidFill>
              <a:srgbClr val="4ECD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2950" y="3611761"/>
            <a:ext cx="786955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DIRECTION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42950" y="3893641"/>
            <a:ext cx="78695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Representation-based diagnostics reveal failures invisible to standard metrics, enabling more rigorous model evaluation</a:t>
            </a:r>
            <a:endParaRPr lang="en-US" sz="11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4420" y="1147018"/>
            <a:ext cx="6995160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040"/>
              </a:lnSpc>
              <a:spcAft>
                <a:spcPts val="1800"/>
              </a:spcAft>
              <a:buNone/>
            </a:pPr>
            <a:r>
              <a:rPr lang="en-US" sz="3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43000" y="2015579"/>
            <a:ext cx="6858000" cy="1337072"/>
          </a:xfrm>
          <a:prstGeom prst="roundRect">
            <a:avLst>
              <a:gd name="adj" fmla="val 8549"/>
            </a:avLst>
          </a:prstGeom>
          <a:solidFill>
            <a:srgbClr val="1E3A5F"/>
          </a:solidFill>
          <a:ln w="28575">
            <a:solidFill>
              <a:srgbClr val="FF6B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414463" y="2348954"/>
            <a:ext cx="6315075" cy="670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40"/>
              </a:lnSpc>
              <a:buNone/>
            </a:pPr>
            <a:r>
              <a:rPr lang="en-US" sz="165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reliability isn't just about aggregate performance—it's about understanding </a:t>
            </a:r>
            <a:pPr algn="ctr" indent="0" marL="0">
              <a:lnSpc>
                <a:spcPts val="2640"/>
              </a:lnSpc>
              <a:buNone/>
            </a:pPr>
            <a:r>
              <a:rPr lang="en-US" sz="165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the system fails for</a:t>
            </a:r>
            <a:pPr algn="ctr" indent="0" marL="0">
              <a:lnSpc>
                <a:spcPts val="2640"/>
              </a:lnSpc>
              <a:buNone/>
            </a:pPr>
            <a:r>
              <a:rPr lang="en-US" sz="165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pPr algn="ctr" indent="0" marL="0">
              <a:lnSpc>
                <a:spcPts val="2640"/>
              </a:lnSpc>
              <a:buNone/>
            </a:pPr>
            <a:r>
              <a:rPr lang="en-US" sz="165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074420" y="3809851"/>
            <a:ext cx="699516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and analysis available on GitHub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Representation Geometry in Collaborative Filtering</dc:title>
  <dc:subject>PptxGenJS Presentation</dc:subject>
  <dc:creator>Gulusan Erdogan-Ozgul</dc:creator>
  <cp:lastModifiedBy>Gulusan Erdogan-Ozgul</cp:lastModifiedBy>
  <cp:revision>1</cp:revision>
  <dcterms:created xsi:type="dcterms:W3CDTF">2026-01-02T05:30:03Z</dcterms:created>
  <dcterms:modified xsi:type="dcterms:W3CDTF">2026-01-02T05:30:03Z</dcterms:modified>
</cp:coreProperties>
</file>